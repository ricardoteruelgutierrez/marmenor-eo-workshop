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Module 1. Goal: go from raw satellite data to the visible fingerprints of the Mar Menor's collapse. Two sensors: Sentinel-2 for water colour at 10 m, Sentinel-3 for sea-surface temperature. Stress the three-section structure (A synthetic/offline, B real workflow, C real imagery) — it's how the notebook avoids leaving students stuck.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single most important conceptual slide. Explain WHY standard ocean colour fails here: sediment, CDOM and macrophytes each move reflectance independently of chlorophyll. That's the definition of Case-2 water. Then the honesty point: L2A (Sen2Cor) is a land atmospheric correction; for rigorous water work you'd run C2RCC. The proxy B05/B04 exploits the red-edge: chlorophyll absorbs red (B04), reflects red-edge (B05).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A/B/C design — it directly answers a reviewer concern that synthetic and real data were visually mixed. Section A always runs (offline). Section B is the real-data recipes (account needed). Section C renders real downloaded imagery and self-skips if the GeoTIFFs aren't present. This is the spine of the whole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A uses the cached synthetic series. The teaching point: the four documented crises appear at the correct dates and magnitudes because the synthetic generator is calibrated against published literature. Walk the timeline 2016 → 2025. This sets up why 2021 is the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mechanism slide. Make the causal chain explicit and quantitative: a +2 °C heatwave lowers O₂ solubility by ~0.3 mg/L; the bloom respires at night; stratification prevents reoxygenation of the bottom. Together → hypoxia → fish-kill. We show the SST field clipped to the real lagoon outline plus the Benson-Krause O₂ solubility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B is the real-world recipe — shown, not run in class. The critical correction: the old catalogue.dataspace.copernicus.eu/stac was deprecated Nov 2025; the current root is stac.dataspace.copernicus.eu/v1 and the collection id is lowercase sentinel-2-l2a. Emphasise L2A vs L1C and the cloud-optimised-GeoTIFF window-read trick.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C is the visual payoff with real Sentinel-2 pixels. Four key products. Stress two methodological wins: (1) scene selection measures coverage AND cloud over the lagoon — that's why the 14-Jul-2021 swath-edge scene was rejected; (2) the lagoon outline is derived from the NIR band, so borders are pixel-perfect.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and bridge to Module 2: now that we can read the lagoon from space, can we validate it against the buoys and predict the crises with ML?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914400"/>
            <a:ext cx="1463040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2410C"/>
                </a:solidFill>
                <a:latin typeface="Consolas"/>
              </a:rPr>
              <a:t>MODULE 01 · NOTEBOOK 01_SATELLITE_DATA_EXTRACTION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3444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4400" b="0" i="1">
                <a:solidFill>
                  <a:srgbClr val="F6F1E7"/>
                </a:solidFill>
                <a:latin typeface="Georgia"/>
              </a:rPr>
              <a:t>Reading chlorophyll</a:t>
            </a:r>
          </a:p>
          <a:p>
            <a:pPr>
              <a:lnSpc>
                <a:spcPct val="102000"/>
              </a:lnSpc>
            </a:pPr>
            <a:r>
              <a:rPr sz="4400" b="0" i="1">
                <a:solidFill>
                  <a:srgbClr val="F6F1E7"/>
                </a:solidFill>
                <a:latin typeface="Georgia"/>
              </a:rPr>
              <a:t>and heat from orbit.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794760"/>
            <a:ext cx="8778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 i="0">
                <a:solidFill>
                  <a:srgbClr val="D4CDB9"/>
                </a:solidFill>
                <a:latin typeface="Calibri"/>
              </a:rPr>
              <a:t>Sentinel-2 water quality and Sentinel-3 sea-surface temperature over the Mar Menor — from raw reflectance to the signature of a dying lagoon.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212080"/>
            <a:ext cx="232029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0" i="1">
                <a:solidFill>
                  <a:srgbClr val="C2410C"/>
                </a:solidFill>
                <a:latin typeface="Georgia"/>
              </a:rPr>
              <a:t>10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806440"/>
            <a:ext cx="23202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D4CDB9"/>
                </a:solidFill>
                <a:latin typeface="Consolas"/>
              </a:rPr>
              <a:t>S2 PIXEL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3018" y="5212080"/>
            <a:ext cx="232029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0" i="1">
                <a:solidFill>
                  <a:srgbClr val="C2410C"/>
                </a:solidFill>
                <a:latin typeface="Georgia"/>
              </a:rPr>
              <a:t>NDCI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3018" y="5806440"/>
            <a:ext cx="23202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D4CDB9"/>
                </a:solidFill>
                <a:latin typeface="Consolas"/>
              </a:rPr>
              <a:t>CHL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4788" y="5212080"/>
            <a:ext cx="232029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0" i="1">
                <a:solidFill>
                  <a:srgbClr val="C2410C"/>
                </a:solidFill>
                <a:latin typeface="Georgia"/>
              </a:rPr>
              <a:t>+2 °C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4788" y="5806440"/>
            <a:ext cx="23202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D4CDB9"/>
                </a:solidFill>
                <a:latin typeface="Consolas"/>
              </a:rPr>
              <a:t>2021 HEATWAVE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36558" y="5212080"/>
            <a:ext cx="232029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0" i="1">
                <a:solidFill>
                  <a:srgbClr val="C2410C"/>
                </a:solidFill>
                <a:latin typeface="Georgia"/>
              </a:rPr>
              <a:t>A·B·C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36558" y="5806440"/>
            <a:ext cx="23202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D4CDB9"/>
                </a:solidFill>
                <a:latin typeface="Consolas"/>
              </a:rPr>
              <a:t>THREE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6B6157"/>
                </a:solidFill>
                <a:latin typeface="Consolas"/>
              </a:rPr>
              <a:t>MODULE 1 / 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157"/>
                </a:solidFill>
                <a:latin typeface="Consolas"/>
              </a:rPr>
              <a:t>SATELLITE DATA EXTRACTION · 75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2410C"/>
                </a:solidFill>
                <a:latin typeface="Consolas"/>
              </a:rPr>
              <a:t>§ 01 — WHY THE LAGOON IS HARD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914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800" b="0" i="0">
                <a:solidFill>
                  <a:srgbClr val="2A2520"/>
                </a:solidFill>
                <a:latin typeface="Georgia"/>
              </a:rPr>
              <a:t>Case-2 waters break the textbook</a:t>
            </a:r>
          </a:p>
          <a:p>
            <a:pPr>
              <a:lnSpc>
                <a:spcPct val="100000"/>
              </a:lnSpc>
            </a:pPr>
            <a:r>
              <a:rPr sz="2800" b="0" i="0">
                <a:solidFill>
                  <a:srgbClr val="2A2520"/>
                </a:solidFill>
                <a:latin typeface="Georgia"/>
              </a:rPr>
              <a:t>ocean-colour algorithms.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6B6157"/>
                </a:solidFill>
                <a:latin typeface="Consolas"/>
              </a:rPr>
              <a:t>MODULE 1 /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157"/>
                </a:solidFill>
                <a:latin typeface="Consolas"/>
              </a:rPr>
              <a:t>CASE-2 WATERS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148840"/>
            <a:ext cx="56692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0" i="0">
                <a:solidFill>
                  <a:srgbClr val="2A2520"/>
                </a:solidFill>
                <a:latin typeface="Calibri"/>
              </a:rPr>
              <a:t>Open-ocean (Case-1) algorithms assume phytoplankton alone drives the colour. The Mar Menor is shallow, wind-stirred and nutrient-loaded, so three things confound the signal at once. The fix is the C2RCC neural-network correction, then a locally-calibrated index.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297680"/>
            <a:ext cx="5669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00" b="0" i="1">
                <a:solidFill>
                  <a:srgbClr val="C2410C"/>
                </a:solidFill>
                <a:latin typeface="Calibri"/>
              </a:rPr>
              <a:t>Caveat we state out loud: Sentinel-2 L2A surface reflectance is a LAND correction — not, by itself, an aquatic C2RCC product.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10312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2A2520"/>
                </a:solidFill>
                <a:latin typeface="Calibri"/>
              </a:rPr>
              <a:t>The three confounders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560320"/>
            <a:ext cx="44805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5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350" b="1" i="0">
                <a:solidFill>
                  <a:srgbClr val="2A2520"/>
                </a:solidFill>
                <a:latin typeface="Calibri"/>
              </a:rPr>
              <a:t>Suspended sediment </a:t>
            </a:r>
            <a:r>
              <a:rPr sz="1350" b="0" i="0">
                <a:solidFill>
                  <a:srgbClr val="2A2520"/>
                </a:solidFill>
                <a:latin typeface="Calibri"/>
              </a:rPr>
              <a:t>raises blue/green → chl-a over-estimated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5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350" b="1" i="0">
                <a:solidFill>
                  <a:srgbClr val="2A2520"/>
                </a:solidFill>
                <a:latin typeface="Calibri"/>
              </a:rPr>
              <a:t>CDOM </a:t>
            </a:r>
            <a:r>
              <a:rPr sz="1350" b="0" i="0">
                <a:solidFill>
                  <a:srgbClr val="2A2520"/>
                </a:solidFill>
                <a:latin typeface="Calibri"/>
              </a:rPr>
              <a:t>from runoff absorbs in the blue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5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350" b="1" i="0">
                <a:solidFill>
                  <a:srgbClr val="2A2520"/>
                </a:solidFill>
                <a:latin typeface="Calibri"/>
              </a:rPr>
              <a:t>Macrophytes </a:t>
            </a:r>
            <a:r>
              <a:rPr sz="1350" b="0" i="0">
                <a:solidFill>
                  <a:srgbClr val="2A2520"/>
                </a:solidFill>
                <a:latin typeface="Calibri"/>
              </a:rPr>
              <a:t>on the bottom add a NIR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34340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2A2520"/>
                </a:solidFill>
                <a:latin typeface="Calibri"/>
              </a:rPr>
              <a:t>Our chl proxy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800600"/>
            <a:ext cx="4480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5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350" b="1" i="0">
                <a:solidFill>
                  <a:srgbClr val="2A2520"/>
                </a:solidFill>
                <a:latin typeface="Calibri"/>
              </a:rPr>
              <a:t>Rrs(B05)/Rrs(B04) </a:t>
            </a:r>
            <a:r>
              <a:rPr sz="1350" b="0" i="0">
                <a:solidFill>
                  <a:srgbClr val="2A2520"/>
                </a:solidFill>
                <a:latin typeface="Calibri"/>
              </a:rPr>
              <a:t>— red-edge over red rises with chlorophyll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2410C"/>
                </a:solidFill>
                <a:latin typeface="Consolas"/>
              </a:rPr>
              <a:t>§ 02 — HOW THE NOTEBOOK IS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914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0" i="0">
                <a:solidFill>
                  <a:srgbClr val="2A2520"/>
                </a:solidFill>
                <a:latin typeface="Georgia"/>
              </a:rPr>
              <a:t>Three clearly separated sections.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6B6157"/>
                </a:solidFill>
                <a:latin typeface="Consolas"/>
              </a:rPr>
              <a:t>MODULE 1 /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157"/>
                </a:solidFill>
                <a:latin typeface="Consolas"/>
              </a:rPr>
              <a:t>STRUCTURE A·B·C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194560"/>
            <a:ext cx="54864" cy="246888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" y="2194560"/>
            <a:ext cx="3328416" cy="246888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5915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15E59"/>
                </a:solidFill>
                <a:latin typeface="Consolas"/>
              </a:rPr>
              <a:t>A · SYNTHETIC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61488"/>
            <a:ext cx="292608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50" b="0" i="0">
                <a:solidFill>
                  <a:srgbClr val="2A2520"/>
                </a:solidFill>
                <a:latin typeface="Calibri"/>
              </a:rPr>
              <a:t>Cached datasets, fully reproducible OFFLINE in class. The 12-point chl-a series and the SST cube. No internet, no account.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8" y="2194560"/>
            <a:ext cx="54864" cy="246888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62272" y="2194560"/>
            <a:ext cx="3328416" cy="246888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35915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15E59"/>
                </a:solidFill>
                <a:latin typeface="Consolas"/>
              </a:rPr>
              <a:t>B · REAL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761488"/>
            <a:ext cx="292608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50" b="0" i="0">
                <a:solidFill>
                  <a:srgbClr val="2A2520"/>
                </a:solidFill>
                <a:latin typeface="Calibri"/>
              </a:rPr>
              <a:t>The patterns to discover and download real Sentinel data from CDSE / STAC. Shown, not run in class (needs a free account).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73568" y="2194560"/>
            <a:ext cx="54864" cy="246888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2" y="2194560"/>
            <a:ext cx="3328416" cy="246888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35915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15E59"/>
                </a:solidFill>
                <a:latin typeface="Consolas"/>
              </a:rPr>
              <a:t>C · REAL IMAGERY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761488"/>
            <a:ext cx="292608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50" b="0" i="0">
                <a:solidFill>
                  <a:srgbClr val="2A2520"/>
                </a:solidFill>
                <a:latin typeface="Calibri"/>
              </a:rPr>
              <a:t>Instructor figures from real Sentinel-2 GeoTIFFs: True-Colour, NDCI, zones. The lagoon outline is the actual satellite coastline.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9377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0" i="1">
                <a:solidFill>
                  <a:srgbClr val="2A2520"/>
                </a:solidFill>
                <a:latin typeface="Calibri"/>
              </a:rPr>
              <a:t>The split keeps “what runs anywhere” cleanly apart from “what needs the cloud” — so students never get stuck mid-lesson.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2410C"/>
                </a:solidFill>
                <a:latin typeface="Consolas"/>
              </a:rPr>
              <a:t>§ 03 — SECTION A · THE LONG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914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0" i="0">
                <a:solidFill>
                  <a:srgbClr val="2A2520"/>
                </a:solidFill>
                <a:latin typeface="Georgia"/>
              </a:rPr>
              <a:t>Four crises, one chlorophyll curve.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6B6157"/>
                </a:solidFill>
                <a:latin typeface="Consolas"/>
              </a:rPr>
              <a:t>MODULE 1 /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157"/>
                </a:solidFill>
                <a:latin typeface="Consolas"/>
              </a:rPr>
              <a:t>CHLOROPHYLL TIME SERIES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2148840"/>
          <a:ext cx="6400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5394960"/>
              </a:tblGrid>
              <a:tr h="45720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15E59"/>
                          </a:solidFill>
                          <a:latin typeface="Consolas"/>
                        </a:rPr>
                        <a:t>Year</a:t>
                      </a:r>
                    </a:p>
                  </a:txBody>
                  <a:tcPr marL="109728" marR="73152" marT="27432" marB="27432" anchor="ctr">
                    <a:solidFill>
                      <a:srgbClr val="EEE5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15E59"/>
                          </a:solidFill>
                          <a:latin typeface="Consolas"/>
                        </a:rPr>
                        <a:t>Event</a:t>
                      </a:r>
                    </a:p>
                  </a:txBody>
                  <a:tcPr marL="109728" marR="73152" marT="27432" marB="27432" anchor="ctr">
                    <a:solidFill>
                      <a:srgbClr val="EEE5D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A2520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A2520"/>
                          </a:solidFill>
                          <a:latin typeface="Calibri"/>
                        </a:rPr>
                        <a:t>First green-soup crisis — accumulated nitrate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A2520"/>
                          </a:solidFill>
                          <a:latin typeface="Calibri"/>
                        </a:rPr>
                        <a:t>2019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A2520"/>
                          </a:solidFill>
                          <a:latin typeface="Calibri"/>
                        </a:rPr>
                        <a:t>DANA flood pulse — 300+ mm in 48 h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A2520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A2520"/>
                          </a:solidFill>
                          <a:latin typeface="Calibri"/>
                        </a:rPr>
                        <a:t>August anoxia &amp; fish-kill — the climax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A2520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A2520"/>
                          </a:solidFill>
                          <a:latin typeface="Calibri"/>
                        </a:rPr>
                        <a:t>Bloom resurgence — early-warning test repeats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228600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2A2520"/>
                </a:solidFill>
                <a:latin typeface="Calibri"/>
              </a:rPr>
              <a:t>What the figure 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743200"/>
            <a:ext cx="3749039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300" b="0" i="0">
                <a:solidFill>
                  <a:srgbClr val="2A2520"/>
                </a:solidFill>
                <a:latin typeface="Calibri"/>
              </a:rPr>
              <a:t>12 sampling points → lagoon-wide weekly mean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300" b="0" i="0">
                <a:solidFill>
                  <a:srgbClr val="2A2520"/>
                </a:solidFill>
                <a:latin typeface="Calibri"/>
              </a:rPr>
              <a:t>Documented crises light up in the right months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300" b="0" i="0">
                <a:solidFill>
                  <a:srgbClr val="2A2520"/>
                </a:solidFill>
                <a:latin typeface="Calibri"/>
              </a:rPr>
              <a:t>Proof the synthetic data is calibrated, not invented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2410C"/>
                </a:solidFill>
                <a:latin typeface="Consolas"/>
              </a:rPr>
              <a:t>§ 04 — SECTION A · THE KILL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914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800" b="0" i="0">
                <a:solidFill>
                  <a:srgbClr val="2A2520"/>
                </a:solidFill>
                <a:latin typeface="Georgia"/>
              </a:rPr>
              <a:t>A marine heatwave that</a:t>
            </a:r>
          </a:p>
          <a:p>
            <a:pPr>
              <a:lnSpc>
                <a:spcPct val="100000"/>
              </a:lnSpc>
            </a:pPr>
            <a:r>
              <a:rPr sz="2800" b="0" i="0">
                <a:solidFill>
                  <a:srgbClr val="2A2520"/>
                </a:solidFill>
                <a:latin typeface="Georgia"/>
              </a:rPr>
              <a:t>strangles the oxygen.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6B6157"/>
                </a:solidFill>
                <a:latin typeface="Consolas"/>
              </a:rPr>
              <a:t>MODULE 1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157"/>
                </a:solidFill>
                <a:latin typeface="Consolas"/>
              </a:rPr>
              <a:t>HEATWAVE → ANOXIA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0" i="1">
                <a:solidFill>
                  <a:srgbClr val="C2410C"/>
                </a:solidFill>
                <a:latin typeface="Georgia"/>
              </a:rPr>
              <a:t>30.5 °C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9260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6B6157"/>
                </a:solidFill>
                <a:latin typeface="Consolas"/>
              </a:rPr>
              <a:t>AUG 2021 MEAN SST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56616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0" i="1">
                <a:solidFill>
                  <a:srgbClr val="C2410C"/>
                </a:solidFill>
                <a:latin typeface="Georgia"/>
              </a:rPr>
              <a:t>+1.9 °C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2062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6B6157"/>
                </a:solidFill>
                <a:latin typeface="Consolas"/>
              </a:rPr>
              <a:t>ANOMALY VS CLIMATOLOGY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84632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0" i="1">
                <a:solidFill>
                  <a:srgbClr val="C2410C"/>
                </a:solidFill>
                <a:latin typeface="Georgia"/>
              </a:rPr>
              <a:t>−0.3 mg/L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4864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6B6157"/>
                </a:solidFill>
                <a:latin typeface="Consolas"/>
              </a:rPr>
              <a:t>O₂ CAPACITY LOST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8600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2A2520"/>
                </a:solidFill>
                <a:latin typeface="Calibri"/>
              </a:rPr>
              <a:t>The chain, quantified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43200"/>
            <a:ext cx="67665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400" b="1" i="0">
                <a:solidFill>
                  <a:srgbClr val="2A2520"/>
                </a:solidFill>
                <a:latin typeface="Calibri"/>
              </a:rPr>
              <a:t>Warmer water holds less O₂ </a:t>
            </a:r>
            <a:r>
              <a:rPr sz="1400" b="0" i="0">
                <a:solidFill>
                  <a:srgbClr val="2A2520"/>
                </a:solidFill>
                <a:latin typeface="Calibri"/>
              </a:rPr>
              <a:t>(Benson–Krause solubility).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400" b="1" i="0">
                <a:solidFill>
                  <a:srgbClr val="2A2520"/>
                </a:solidFill>
                <a:latin typeface="Calibri"/>
              </a:rPr>
              <a:t>27.5 → 30.5 °C removes ~0.3 mg/L </a:t>
            </a:r>
            <a:r>
              <a:rPr sz="1400" b="0" i="0">
                <a:solidFill>
                  <a:srgbClr val="2A2520"/>
                </a:solidFill>
                <a:latin typeface="Calibri"/>
              </a:rPr>
              <a:t>of oxygen capacity.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400" b="1" i="0">
                <a:solidFill>
                  <a:srgbClr val="2A2520"/>
                </a:solidFill>
                <a:latin typeface="Calibri"/>
              </a:rPr>
              <a:t>At night the bloom consumes O₂ </a:t>
            </a:r>
            <a:r>
              <a:rPr sz="1400" b="0" i="0">
                <a:solidFill>
                  <a:srgbClr val="2A2520"/>
                </a:solidFill>
                <a:latin typeface="Calibri"/>
              </a:rPr>
              <a:t>— and stratification seals the bottom.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400" b="1" i="0">
                <a:solidFill>
                  <a:srgbClr val="2A2520"/>
                </a:solidFill>
                <a:latin typeface="Calibri"/>
              </a:rPr>
              <a:t>Result: </a:t>
            </a:r>
            <a:r>
              <a:rPr sz="1400" b="0" i="0">
                <a:solidFill>
                  <a:srgbClr val="2A2520"/>
                </a:solidFill>
                <a:latin typeface="Calibri"/>
              </a:rPr>
              <a:t>bottom anoxia — the 2021 fish-kill condition.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212080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00" b="0" i="1">
                <a:solidFill>
                  <a:srgbClr val="115E59"/>
                </a:solidFill>
                <a:latin typeface="Calibri"/>
              </a:rPr>
              <a:t>Teaching point: SST is not a curiosity — it is a computable driver of the ecological collapse.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2410C"/>
                </a:solidFill>
                <a:latin typeface="Consolas"/>
              </a:rPr>
              <a:t>§ 05 — SECTION B · HOW TO GET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914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0" i="0">
                <a:solidFill>
                  <a:srgbClr val="2A2520"/>
                </a:solidFill>
                <a:latin typeface="Georgia"/>
              </a:rPr>
              <a:t>The current Copernicus access path.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6B6157"/>
                </a:solidFill>
                <a:latin typeface="Consolas"/>
              </a:rPr>
              <a:t>MODULE 1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157"/>
                </a:solidFill>
                <a:latin typeface="Consolas"/>
              </a:rPr>
              <a:t>CDSE · STAC · COG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148840"/>
            <a:ext cx="5486400" cy="3108960"/>
          </a:xfrm>
          <a:prstGeom prst="rect">
            <a:avLst/>
          </a:prstGeom>
          <a:solidFill>
            <a:srgbClr val="0E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331720"/>
            <a:ext cx="507492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6B6157"/>
                </a:solidFill>
                <a:latin typeface="Consolas"/>
              </a:rPr>
              <a:t># Current CDSE STAC endpoint (Nov 2025)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from pystac_client import Client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cat = Client.open(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  "https://stac.dataspace.copernicus.eu/v1/")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search = cat.search(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  collections=["sentinel-2-l2a"],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  datetime="2021-08-01/2021-09-30",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  bbox=BBOX,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  query={"eo:cloud_cover": {"lt": 20}})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2860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2A2520"/>
                </a:solidFill>
                <a:latin typeface="Calibri"/>
              </a:rPr>
              <a:t>What students must remember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743200"/>
            <a:ext cx="46634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250" b="0" i="0">
                <a:solidFill>
                  <a:srgbClr val="2A2520"/>
                </a:solidFill>
                <a:latin typeface="Calibri"/>
              </a:rPr>
              <a:t>SciHub is dead; CDSE is the entry point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250" b="1" i="0">
                <a:solidFill>
                  <a:srgbClr val="2A2520"/>
                </a:solidFill>
                <a:latin typeface="Calibri"/>
              </a:rPr>
              <a:t>New STAC root </a:t>
            </a:r>
            <a:r>
              <a:rPr sz="1250" b="0" i="0">
                <a:solidFill>
                  <a:srgbClr val="2A2520"/>
                </a:solidFill>
                <a:latin typeface="Calibri"/>
              </a:rPr>
              <a:t>stac.dataspace.copernicus.eu/v1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250" b="1" i="0">
                <a:solidFill>
                  <a:srgbClr val="2A2520"/>
                </a:solidFill>
                <a:latin typeface="Calibri"/>
              </a:rPr>
              <a:t>Collection is lowercase </a:t>
            </a:r>
            <a:r>
              <a:rPr sz="1250" b="0" i="0">
                <a:solidFill>
                  <a:srgbClr val="2A2520"/>
                </a:solidFill>
                <a:latin typeface="Calibri"/>
              </a:rPr>
              <a:t>sentinel-2-l2a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250" b="1" i="0">
                <a:solidFill>
                  <a:srgbClr val="2A2520"/>
                </a:solidFill>
                <a:latin typeface="Calibri"/>
              </a:rPr>
              <a:t>Use L2A </a:t>
            </a:r>
            <a:r>
              <a:rPr sz="1250" b="0" i="0">
                <a:solidFill>
                  <a:srgbClr val="2A2520"/>
                </a:solidFill>
                <a:latin typeface="Calibri"/>
              </a:rPr>
              <a:t>(surface), not L1C (top-of-atmosphere)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250" b="1" i="0">
                <a:solidFill>
                  <a:srgbClr val="2A2520"/>
                </a:solidFill>
                <a:latin typeface="Calibri"/>
              </a:rPr>
              <a:t>The COG trick: </a:t>
            </a:r>
            <a:r>
              <a:rPr sz="1250" b="0" i="0">
                <a:solidFill>
                  <a:srgbClr val="2A2520"/>
                </a:solidFill>
                <a:latin typeface="Calibri"/>
              </a:rPr>
              <a:t>read only the AOI window, a few MB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2410C"/>
                </a:solidFill>
                <a:latin typeface="Consolas"/>
              </a:rPr>
              <a:t>§ 06 — SECTION C · REAL IMAGERY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914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0" i="0">
                <a:solidFill>
                  <a:srgbClr val="2A2520"/>
                </a:solidFill>
                <a:latin typeface="Georgia"/>
              </a:rPr>
              <a:t>Pixel-perfect, from real scenes.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6B6157"/>
                </a:solidFill>
                <a:latin typeface="Consolas"/>
              </a:rPr>
              <a:t>MODULE 1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157"/>
                </a:solidFill>
                <a:latin typeface="Consolas"/>
              </a:rPr>
              <a:t>TRUE COLOUR · NDCI · ZONES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194560"/>
            <a:ext cx="54864" cy="169164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" y="2194560"/>
            <a:ext cx="5111496" cy="16916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59152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15E59"/>
                </a:solidFill>
                <a:latin typeface="Consolas"/>
              </a:rPr>
              <a:t>TRUE COLOUR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61488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50" b="0" i="0">
                <a:solidFill>
                  <a:srgbClr val="2A2520"/>
                </a:solidFill>
                <a:latin typeface="Calibri"/>
              </a:rPr>
              <a:t>Four cloud-free, full-coverage scenes (Feb 2020 → Mar 2022), chosen by measuring real coverage AND cloud over the lagoon — not the catalogue 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0488" y="2194560"/>
            <a:ext cx="54864" cy="169164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1" y="2194560"/>
            <a:ext cx="5111496" cy="16916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359152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15E59"/>
                </a:solidFill>
                <a:latin typeface="Consolas"/>
              </a:rPr>
              <a:t>NDCI PER PIXEL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761488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50" b="0" i="0">
                <a:solidFill>
                  <a:srgbClr val="2A2520"/>
                </a:solidFill>
                <a:latin typeface="Calibri"/>
              </a:rPr>
              <a:t>Chlorophyll index over 1.3 M water pixels. Clear winter ≈ −0.28; summer 2021 bloom ≈ −0.05 — a large jump on a shared colour scale.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4069080"/>
            <a:ext cx="54864" cy="169164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6112" y="4069080"/>
            <a:ext cx="5111496" cy="16916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33672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15E59"/>
                </a:solidFill>
                <a:latin typeface="Consolas"/>
              </a:rPr>
              <a:t>ZONE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636008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50" b="0" i="0">
                <a:solidFill>
                  <a:srgbClr val="2A2520"/>
                </a:solidFill>
                <a:latin typeface="Calibri"/>
              </a:rPr>
              <a:t>North / Centre / South medians reveal the gradient driven by agricultural runoff on the north-west shore.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4069080"/>
            <a:ext cx="54864" cy="169164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1" y="4069080"/>
            <a:ext cx="5111496" cy="16916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233672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15E59"/>
                </a:solidFill>
                <a:latin typeface="Consolas"/>
              </a:rPr>
              <a:t>OUTLINE FROM NIR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636008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50" b="0" i="0">
                <a:solidFill>
                  <a:srgbClr val="2A2520"/>
                </a:solidFill>
                <a:latin typeface="Calibri"/>
              </a:rPr>
              <a:t>The lagoon boundary is extracted from the near-infrared band itself — 191 vertices, exact, not a hand-drawn polygon.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914400"/>
            <a:ext cx="1463040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2410C"/>
                </a:solidFill>
                <a:latin typeface="Consolas"/>
              </a:rPr>
              <a:t>§ 07 — WHAT TO WALK AWAY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1887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0" i="1">
                <a:solidFill>
                  <a:srgbClr val="F6F1E7"/>
                </a:solidFill>
                <a:latin typeface="Georgia"/>
              </a:rPr>
              <a:t>Module 1 in four sentences.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4688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 i="0">
                <a:solidFill>
                  <a:srgbClr val="C2410C"/>
                </a:solidFill>
                <a:latin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468880"/>
            <a:ext cx="9875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 i="0">
                <a:solidFill>
                  <a:srgbClr val="F6F1E7"/>
                </a:solidFill>
                <a:latin typeface="Calibri"/>
              </a:rPr>
              <a:t>CDSE, not SciHub.  </a:t>
            </a:r>
            <a:r>
              <a:rPr sz="1500" b="0" i="0">
                <a:solidFill>
                  <a:srgbClr val="D4CDB9"/>
                </a:solidFill>
                <a:latin typeface="Calibri"/>
              </a:rPr>
              <a:t>STAC at stac.dataspace.copernicus.eu/v1, collection sentinel-2-l2a.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3832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 i="0">
                <a:solidFill>
                  <a:srgbClr val="C2410C"/>
                </a:solidFill>
                <a:latin typeface="Consola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383280"/>
            <a:ext cx="9875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 i="0">
                <a:solidFill>
                  <a:srgbClr val="F6F1E7"/>
                </a:solidFill>
                <a:latin typeface="Calibri"/>
              </a:rPr>
              <a:t>Case-2 means be careful.  </a:t>
            </a:r>
            <a:r>
              <a:rPr sz="1500" b="0" i="0">
                <a:solidFill>
                  <a:srgbClr val="D4CDB9"/>
                </a:solidFill>
                <a:latin typeface="Calibri"/>
              </a:rPr>
              <a:t>Atmospheric-correct with C2RCC; never trust raw L2A as an aquatic product.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2976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 i="0">
                <a:solidFill>
                  <a:srgbClr val="C2410C"/>
                </a:solidFill>
                <a:latin typeface="Consola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297680"/>
            <a:ext cx="9875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 i="0">
                <a:solidFill>
                  <a:srgbClr val="F6F1E7"/>
                </a:solidFill>
                <a:latin typeface="Calibri"/>
              </a:rPr>
              <a:t>NDCI separates clear water from bloom  </a:t>
            </a:r>
            <a:r>
              <a:rPr sz="1500" b="0" i="0">
                <a:solidFill>
                  <a:srgbClr val="D4CDB9"/>
                </a:solidFill>
                <a:latin typeface="Calibri"/>
              </a:rPr>
              <a:t>and exposes the north–south nutrient gradient.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2120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 i="0">
                <a:solidFill>
                  <a:srgbClr val="C2410C"/>
                </a:solidFill>
                <a:latin typeface="Consola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212080"/>
            <a:ext cx="9875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 i="0">
                <a:solidFill>
                  <a:srgbClr val="F6F1E7"/>
                </a:solidFill>
                <a:latin typeface="Calibri"/>
              </a:rPr>
              <a:t>A +2 °C heatwave removes ~0.3 mg/L O₂  </a:t>
            </a:r>
            <a:r>
              <a:rPr sz="1500" b="0" i="0">
                <a:solidFill>
                  <a:srgbClr val="D4CDB9"/>
                </a:solidFill>
                <a:latin typeface="Calibri"/>
              </a:rPr>
              <a:t>— enough, with night-time respiration, to drive the 2021 anoxia.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6B6157"/>
                </a:solidFill>
                <a:latin typeface="Consolas"/>
              </a:rPr>
              <a:t>MODULE 1 / 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157"/>
                </a:solidFill>
                <a:latin typeface="Consolas"/>
              </a:rPr>
              <a:t>FIN · MODULE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