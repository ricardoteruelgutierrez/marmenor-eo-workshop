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9A44B"/>
                </a:solidFill>
                <a:latin typeface="Consolas"/>
              </a:rPr>
              <a:t>LIVE EARTH-OBSERVATION SESSION · 60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0" i="1">
                <a:solidFill>
                  <a:srgbClr val="F6F1E7"/>
                </a:solidFill>
                <a:latin typeface="Georgia"/>
              </a:rPr>
              <a:t>Watch a lagoon</a:t>
            </a:r>
          </a:p>
          <a:p>
            <a:pPr>
              <a:lnSpc>
                <a:spcPct val="102000"/>
              </a:lnSpc>
            </a:pPr>
            <a:r>
              <a:rPr sz="4000" b="0" i="1">
                <a:solidFill>
                  <a:srgbClr val="F6F1E7"/>
                </a:solidFill>
                <a:latin typeface="Georgia"/>
              </a:rPr>
              <a:t>collapse, from 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8595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BD5DD"/>
                </a:solidFill>
                <a:latin typeface="Calibri"/>
              </a:rPr>
              <a:t>In one hour you download real satellite and pollution data with your own hands — and see the 2021 Mar Menor crisis appear on screen. No install, mostly no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E9A44B"/>
                </a:solidFill>
                <a:latin typeface="Georgia"/>
              </a:rPr>
              <a:t>10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SENTINEL-2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5212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E9A44B"/>
                </a:solidFill>
                <a:latin typeface="Georg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8064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LIVE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212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E9A44B"/>
                </a:solidFill>
                <a:latin typeface="Georg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8064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HANDS-ON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5212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E9A44B"/>
                </a:solidFill>
                <a:latin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8064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SOFTWARE TO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CBD5DD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9A44B"/>
                </a:solidFill>
                <a:latin typeface="Consolas"/>
              </a:rPr>
              <a:t>THE PLACE · THE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6400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600" b="0" i="0">
                <a:solidFill>
                  <a:srgbClr val="F6F1E7"/>
                </a:solidFill>
                <a:latin typeface="Georgia"/>
              </a:rPr>
              <a:t>A small sea that broke, on camera.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CBD5DD"/>
                </a:solidFill>
                <a:latin typeface="Calibri"/>
              </a:rPr>
              <a:t>The Mar Menor is Europe's largest coastal lagoon — shallow, closed, ringed by farmland.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CBD5DD"/>
                </a:solidFill>
                <a:latin typeface="Calibri"/>
              </a:rPr>
              <a:t>In August 2021 it turned green and three tonnes of fish died: an algal bloom, fed by farm runoff and a marine heatwave, stripped the water of oxygen.</a:t>
            </a:r>
          </a:p>
          <a:p>
            <a:pPr>
              <a:spcBef>
                <a:spcPts val="1000"/>
              </a:spcBef>
            </a:pPr>
            <a:r>
              <a:rPr sz="1300" b="0" i="1">
                <a:solidFill>
                  <a:srgbClr val="6B6157"/>
                </a:solidFill>
                <a:latin typeface="Calibri"/>
              </a:rPr>
              <a:t>Every stage of it was recorded from orbit — free, open, and the subject of today's 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029200" cy="4206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true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644" y="1847088"/>
            <a:ext cx="3604631" cy="3986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CBD5DD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WHAT WE'LL DO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Seven steps, one hour.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Browse any date from orbit — NASA GIBS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157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Download real Sentinel-2 (10 m) — only our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72968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8269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826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Measure the bloom — the NDCI chlorophyll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39896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96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9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Add live pollution data — air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06824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16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165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Unlock server products with a free Copernicus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73752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Detect the crises with machine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40680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5040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C2410C"/>
                </a:solidFill>
                <a:latin typeface="Consola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5504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0">
                <a:solidFill>
                  <a:srgbClr val="2A2520"/>
                </a:solidFill>
                <a:latin typeface="Calibri"/>
              </a:rPr>
              <a:t>Store &amp; query it all in a 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07608"/>
            <a:ext cx="10515600" cy="9525"/>
          </a:xfrm>
          <a:prstGeom prst="rect">
            <a:avLst/>
          </a:prstGeom>
          <a:solidFill>
            <a:srgbClr val="D8C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1 · BROWSE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Find a clear day from orbit.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LIVE · NO LOGIN   </a:t>
            </a:r>
            <a:r>
              <a:rPr sz="1600" b="0" i="0">
                <a:solidFill>
                  <a:srgbClr val="2A2520"/>
                </a:solidFill>
                <a:latin typeface="Calibri"/>
              </a:rPr>
              <a:t>NASA GIBS returns a true-colour picture of any day since 2000. We scout for cloud-free dates before downloading the heavy data.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6B6157"/>
                </a:solidFill>
                <a:latin typeface="Calibri"/>
              </a:rPr>
              <a:t>— One URL, one image — change the date and re-run.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37360"/>
            <a:ext cx="5394960" cy="4206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gi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703" y="1847088"/>
            <a:ext cx="3636753" cy="3986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2 · DOWNLOAD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What each wavelength sees.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LIVE · NO LOGIN   </a:t>
            </a:r>
            <a:r>
              <a:rPr sz="1500" b="0" i="0">
                <a:solidFill>
                  <a:srgbClr val="2A2520"/>
                </a:solidFill>
                <a:latin typeface="Calibri"/>
              </a:rPr>
              <a:t>Sentinel-2 records separate bands. We read only our window (~16 MB, not 800). Watch the bloom flip from dark in red to bright in red-edge.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08" y="3310128"/>
            <a:ext cx="9509502" cy="2523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3 ·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The bloom, as a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LIVE   </a:t>
            </a:r>
            <a:r>
              <a:rPr sz="1600" b="0" i="0">
                <a:solidFill>
                  <a:srgbClr val="2A2520"/>
                </a:solidFill>
                <a:latin typeface="Calibri"/>
              </a:rPr>
              <a:t>The NDCI turns two bands into chlorophyll at every pixel. Land is greyed out; the bloom is strongest in the north-west, by the farmland.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C2410C"/>
                </a:solidFill>
                <a:latin typeface="Consolas"/>
              </a:rPr>
              <a:t>NDCI = (B05 − B04) / (B05 + B04)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37360"/>
            <a:ext cx="5394960" cy="4206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nd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314" y="1847088"/>
            <a:ext cx="4167531" cy="3986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4 · POLLUTION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More than water colour.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LIVE · NO LOGIN   </a:t>
            </a:r>
            <a:r>
              <a:rPr sz="1600" b="0" i="0">
                <a:solidFill>
                  <a:srgbClr val="2A2520"/>
                </a:solidFill>
                <a:latin typeface="Calibri"/>
              </a:rPr>
              <a:t>A keyless API returns hourly PM2.5, PM10 and ozone — the dust over the same farmland that feeds the lagoon. Same pattern: ask, receive,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37360"/>
            <a:ext cx="5394960" cy="4206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air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077774"/>
            <a:ext cx="5175504" cy="1525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5 · GO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Five products, one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FREE ACCOUNT   </a:t>
            </a:r>
            <a:r>
              <a:rPr sz="1500" b="0" i="0">
                <a:solidFill>
                  <a:srgbClr val="2A2520"/>
                </a:solidFill>
                <a:latin typeface="Calibri"/>
              </a:rPr>
              <a:t>With a free Copernicus key the server computes products for you. One call returns the three optical components of the water — plus the bloom peak.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6157"/>
                </a:solidFill>
                <a:latin typeface="Calibri"/>
              </a:rPr>
              <a:t>— True colour · chlorophyll · bloom hotspots · turbidity · CDOM.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wq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364838"/>
            <a:ext cx="10296144" cy="2414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STEP 6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It finds the crises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Consolas"/>
              </a:rPr>
              <a:t>LIVE   </a:t>
            </a:r>
            <a:r>
              <a:rPr sz="1600" b="0" i="0">
                <a:solidFill>
                  <a:srgbClr val="2A2520"/>
                </a:solidFill>
                <a:latin typeface="Calibri"/>
              </a:rPr>
              <a:t>An Isolation Forest, trained only on the calm years, flags every later day that looks abnormal — and rediscovers the 2019 and 2021 crises it never saw.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6B6157"/>
                </a:solidFill>
                <a:latin typeface="Calibri"/>
              </a:rPr>
              <a:t>— 100% of the documented crisis days, caught out-of-sample.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37360"/>
            <a:ext cx="5394960" cy="4206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s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097776"/>
            <a:ext cx="5175504" cy="1485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9A44B"/>
                </a:solidFill>
                <a:latin typeface="Consolas"/>
              </a:rPr>
              <a:t>WHAT YOU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0" i="0">
                <a:solidFill>
                  <a:srgbClr val="F6F1E7"/>
                </a:solidFill>
                <a:latin typeface="Georgia"/>
              </a:rPr>
              <a:t>The barrier was never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E9A44B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6F1E7"/>
                </a:solidFill>
                <a:latin typeface="Calibri"/>
              </a:rPr>
              <a:t>Free &amp; open.  </a:t>
            </a:r>
            <a:r>
              <a:rPr sz="1500" b="0" i="0">
                <a:solidFill>
                  <a:srgbClr val="CBD5DD"/>
                </a:solidFill>
                <a:latin typeface="Calibri"/>
              </a:rPr>
              <a:t>the data that recorded a disaster is one request away — no paywall.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E9A44B"/>
                </a:solidFill>
                <a:latin typeface="Consola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54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6F1E7"/>
                </a:solidFill>
                <a:latin typeface="Calibri"/>
              </a:rPr>
              <a:t>Move few pixels.  </a:t>
            </a:r>
            <a:r>
              <a:rPr sz="1500" b="0" i="0">
                <a:solidFill>
                  <a:srgbClr val="CBD5DD"/>
                </a:solidFill>
                <a:latin typeface="Calibri"/>
              </a:rPr>
              <a:t>search a catalogue, read only your window, let the server 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E9A44B"/>
                </a:solidFill>
                <a:latin typeface="Consola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0233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6F1E7"/>
                </a:solidFill>
                <a:latin typeface="Calibri"/>
              </a:rPr>
              <a:t>One pattern.  </a:t>
            </a:r>
            <a:r>
              <a:rPr sz="1500" b="0" i="0">
                <a:solidFill>
                  <a:srgbClr val="CBD5DD"/>
                </a:solidFill>
                <a:latin typeface="Calibri"/>
              </a:rPr>
              <a:t>discover → take a subset → analyse → store. It works for any coast.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E9A44B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920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6F1E7"/>
                </a:solidFill>
                <a:latin typeface="Calibri"/>
              </a:rPr>
              <a:t>You did it live.  </a:t>
            </a:r>
            <a:r>
              <a:rPr sz="1500" b="0" i="0">
                <a:solidFill>
                  <a:srgbClr val="CBD5DD"/>
                </a:solidFill>
                <a:latin typeface="Calibri"/>
              </a:rPr>
              <a:t>browse, download, measure, detect and store — in one hour, no install.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B6157"/>
                </a:solidFill>
                <a:latin typeface="Consolas"/>
              </a:rPr>
              <a:t>Go further → notebooks 01 · 02 · 03 in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CBD5DD"/>
                </a:solidFill>
                <a:latin typeface="Consolas"/>
              </a:rPr>
              <a:t>fin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CBD5DD"/>
                </a:solidFill>
                <a:latin typeface="Consolas"/>
              </a:rPr>
              <a:t>MAR MENOR · LIVE EARTH-OBSERVATION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