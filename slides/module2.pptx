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2 connects satellite to ground truth and adds machine learning. Two big honesty themes to flag up front: (1) validate spatially, not just in time; (2) an early-warning detector must be judged out-of-sample. These reflect the review fixes that made the module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data landscape for in-situ. Our cached buoy file mimics CARM exports: 5 stations, daily, 2016-2025, with T, S, chl-a, turbidity, DO, nitrate. Point out that the upstream (IMIDA/CHS) is what ultimately drives the lagoon — the nutrient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Exploratory plots first. Show the 2021 DO collapse against the 2 mg/L hypoxia line with SST overlaid, and the 2019 DANA as a precip → nitrate → salinity cascade. Lesson: always eyeball the events before trusting any model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Match-ups: the discipline of validation. 3 km / 3 h is the ocean-colour convention; we use 4 km / same-day because in-situ is daily. Report R², RMSE, RMSLE (log because chl-a is log-normal) and bias, and always draw the 1:1 line. Never claim skill without a match-up.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ML-rigor slide. TimeSeriesSplit answers 'can I predict future dates' and looks strong. GroupKFold holding out whole stations answers 'can I predict an unmonitored place' and is much harder (R² around 0.17). The honest deployment number is the spatial one. This directly addresses the reviewer's 'too optimistic ML'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Anomaly detection with honesty built in. If you fit IsolationForest on all years, the crises become part of 'normal' and the early-warning claim is circular. We fit only on the quiet 2017-18 baseline and apply forward. It's multivariate — joint anomalies across six variables catch precursors a single chl-a threshold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subtle but important fix. The naive code scanned a window starting before and ending after the event, took the first flag, and called it 'lead time' — even when it came after onset. We split lead time (before) from detection delay (after). Honest result: 2019 was a real 42-day warning; 2021 and 2025 were caught only after the crisis began.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Bridge to Module 3: Modules 1-2 used data we prepared — Module 3 teaches students to build that data layer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914400"/>
            <a:ext cx="1463040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MODULE 02 · NOTEBOOK 02_INSITU_TIMESERIES_ML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400" b="0" i="1">
                <a:solidFill>
                  <a:srgbClr val="F6F1E7"/>
                </a:solidFill>
                <a:latin typeface="Georgia"/>
              </a:rPr>
              <a:t>From buoys to</a:t>
            </a:r>
          </a:p>
          <a:p>
            <a:pPr>
              <a:lnSpc>
                <a:spcPct val="102000"/>
              </a:lnSpc>
            </a:pPr>
            <a:r>
              <a:rPr sz="4400" b="0" i="1">
                <a:solidFill>
                  <a:srgbClr val="F6F1E7"/>
                </a:solidFill>
                <a:latin typeface="Georgia"/>
              </a:rPr>
              <a:t>early warning.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D4CDB9"/>
                </a:solidFill>
                <a:latin typeface="Calibri"/>
              </a:rPr>
              <a:t>Integrating the in-situ network with the satellite record, validating retrievals, and learning to predict and flag the lagoon's crises.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BUOY STATIONS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301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18k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01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DAILY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478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HONEST CV SCHEMES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6558" y="5212080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1">
                <a:solidFill>
                  <a:srgbClr val="C2410C"/>
                </a:solidFill>
                <a:latin typeface="Georgia"/>
              </a:rPr>
              <a:t>42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6558" y="5806440"/>
            <a:ext cx="2320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D4CDB9"/>
                </a:solidFill>
                <a:latin typeface="Consolas"/>
              </a:rPr>
              <a:t>BEST LEAD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2 / 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IN-SITU + MACHINE LEARNING · 70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01 — WHERE THE GROUND TRUTH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The regional monitoring networks.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2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IN-SITU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9456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19456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CARM MAR MENOR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Real-time sondes around the lagoon: T, S, chl-a, DO, turbidity. The dashboard regional authorities actually watch.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219456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1" y="219456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591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IMIDA / SIAM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6148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Agro-meteorological stations: soil moisture, nitrate proxies — the upstream pressure on the lagoon.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06908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406908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3367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CHS-SAIH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3600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Segura watershed hydrology: precipitation and runoff at 15-minute cadence — the flood signal.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4069080"/>
            <a:ext cx="54864" cy="169164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1" y="4069080"/>
            <a:ext cx="5111496" cy="16916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3367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15E59"/>
                </a:solidFill>
                <a:latin typeface="Consolas"/>
              </a:rPr>
              <a:t>COPERNICUS MARINE INS-TAC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3600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2A2520"/>
                </a:solidFill>
                <a:latin typeface="Calibri"/>
              </a:rPr>
              <a:t>Aggregated in-situ ocean observations (buoys, CTDs, gliders) for the Mediterranean.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02 — THE CRISES IN THE RAW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What the agency saw in real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2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HYPOXIA · DANA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August 2021 — the hypoxia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Dissolved oxygen crashes below 2 mg/L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>at the worst stations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SST peaks simultaneously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>— the heatwave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This is the plot behind the fish-kill headlines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September 2019 — the DANA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743200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300+ mm in 48 h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>cut-off cold drop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Salinity drops ~4 PSU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>as freshwater floods in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400" b="1" i="0">
                <a:solidFill>
                  <a:srgbClr val="2A2520"/>
                </a:solidFill>
                <a:latin typeface="Calibri"/>
              </a:rPr>
              <a:t>Nitrate spikes ten-fold </a:t>
            </a:r>
            <a:r>
              <a:rPr sz="1400" b="0" i="0">
                <a:solidFill>
                  <a:srgbClr val="2A2520"/>
                </a:solidFill>
                <a:latin typeface="Calibri"/>
              </a:rPr>
              <a:t>— the watershed plume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029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0" i="1">
                <a:solidFill>
                  <a:srgbClr val="2A2520"/>
                </a:solidFill>
                <a:latin typeface="Calibri"/>
              </a:rPr>
              <a:t>Before any modelling, we simply PLOT the events — the data must show the story we claim to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03 —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Does the satellite agree</a:t>
            </a:r>
          </a:p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with the water?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2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SATELLITE ↔ IN-SITU MATCH-UPS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0" i="0">
                <a:solidFill>
                  <a:srgbClr val="2A2520"/>
                </a:solidFill>
                <a:latin typeface="Calibri"/>
              </a:rPr>
              <a:t>We co-locate each Sentinel-2 sampling point with its nearest buoy (within 4 km, same day) and score the retrieval the way an ocean-colour paper would. A scatter against the 1:1 line is the honest visual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The metrics that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0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1" i="0">
                <a:solidFill>
                  <a:srgbClr val="2A2520"/>
                </a:solidFill>
                <a:latin typeface="Calibri"/>
              </a:rPr>
              <a:t>R²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— variance explained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1" i="0">
                <a:solidFill>
                  <a:srgbClr val="2A2520"/>
                </a:solidFill>
                <a:latin typeface="Calibri"/>
              </a:rPr>
              <a:t>RMSE / RMSLE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— error (log form: chl-a is log-normal)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1" i="0">
                <a:solidFill>
                  <a:srgbClr val="2A2520"/>
                </a:solidFill>
                <a:latin typeface="Calibri"/>
              </a:rPr>
              <a:t>Bias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— systematic over/under-estimate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1" i="0">
                <a:solidFill>
                  <a:srgbClr val="2A2520"/>
                </a:solidFill>
                <a:latin typeface="Calibri"/>
              </a:rPr>
              <a:t>1:1 line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on the scatter — the visual truth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04 — MACHINE LEARNING, DONE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Two cross-validations,</a:t>
            </a:r>
          </a:p>
          <a:p>
            <a:pPr>
              <a:lnSpc>
                <a:spcPct val="100000"/>
              </a:lnSpc>
            </a:pPr>
            <a:r>
              <a:rPr sz="2800" b="0" i="0">
                <a:solidFill>
                  <a:srgbClr val="2A2520"/>
                </a:solidFill>
                <a:latin typeface="Georgia"/>
              </a:rPr>
              <a:t>two different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GRADIENT BOOSTING · HONEST CV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46888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Scheme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Question it answers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TimeSeriesSplit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Predict future dates? (time order)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high R²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GroupKFold by station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Predict an unseen station? (space)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R² ≈ 0.17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42062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0" i="1">
                <a:solidFill>
                  <a:srgbClr val="2A2520"/>
                </a:solidFill>
                <a:latin typeface="Calibri"/>
              </a:rPr>
              <a:t>The gap is the lesson: a model that looks great in time can be weak in space. Report the harder number. A gradient-boosting regressor on reflectances + band ratios + season is the workhorse.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05 — MULTIVARIATE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700" b="0" i="0">
                <a:solidFill>
                  <a:srgbClr val="2A2520"/>
                </a:solidFill>
                <a:latin typeface="Georgia"/>
              </a:rPr>
              <a:t>An early-warning detector</a:t>
            </a:r>
          </a:p>
          <a:p>
            <a:pPr>
              <a:lnSpc>
                <a:spcPct val="100000"/>
              </a:lnSpc>
            </a:pPr>
            <a:r>
              <a:rPr sz="2700" b="0" i="0">
                <a:solidFill>
                  <a:srgbClr val="2A2520"/>
                </a:solidFill>
                <a:latin typeface="Georgia"/>
              </a:rPr>
              <a:t>that never peeks at the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2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ISOLATION FOREST · OUT-OF-SAMPLE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5486400" cy="3017520"/>
          </a:xfrm>
          <a:prstGeom prst="rect">
            <a:avLst/>
          </a:prstGeom>
          <a:solidFill>
            <a:srgbClr val="0E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514600"/>
            <a:ext cx="5074920" cy="2697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6B6157"/>
                </a:solidFill>
                <a:latin typeface="Consolas"/>
              </a:rPr>
              <a:t># Fit ONLY on quiet years 2017-18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train = sm.query("date &lt; '2019-01-01'")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iso = IsolationForest(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  n_estimators=300,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  contamination=0.03,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   random_state=42)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iso.fit(train[FEATURES])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6B6157"/>
                </a:solidFill>
                <a:latin typeface="Consolas"/>
              </a:rPr>
              <a:t># Apply out-of-sample (2019+)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D4CDB9"/>
                </a:solidFill>
                <a:latin typeface="Consolas"/>
              </a:rPr>
              <a:t>sm['anomaly'] = iso.predict(sm[FEATURES])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A2520"/>
                </a:solidFill>
                <a:latin typeface="Calibri"/>
              </a:rPr>
              <a:t>Why quiet years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Fit on the whole series and it learns the crises as 'normal'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Train on 2017–2018, apply to 2019+ → every flag is out-of-sample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— </a:t>
            </a:r>
            <a:r>
              <a:rPr sz="1300" b="0" i="0">
                <a:solidFill>
                  <a:srgbClr val="2A2520"/>
                </a:solidFill>
                <a:latin typeface="Calibri"/>
              </a:rPr>
              <a:t>Watches chl-a, turbidity, DO, SST, salinity, nitrate jointly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06 — THE METRIC AGENCIES ACTUALLY WANT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 i="0">
                <a:solidFill>
                  <a:srgbClr val="2A2520"/>
                </a:solidFill>
                <a:latin typeface="Georgia"/>
              </a:rPr>
              <a:t>Lead time ≠ detection delay.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LEAD TIME VS DELAY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2860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Crisis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First flag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15E59"/>
                          </a:solidFill>
                          <a:latin typeface="Consolas"/>
                        </a:rPr>
                        <a:t>Outcome</a:t>
                      </a:r>
                    </a:p>
                  </a:txBody>
                  <a:tcPr marL="109728" marR="73152" marT="27432" marB="27432" anchor="ctr">
                    <a:solidFill>
                      <a:srgbClr val="EEE5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2019 DANA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−42 days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genuine early warning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2021 anoxia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+2 days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caught after onset (a miss)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2025 bloom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+1 day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A2520"/>
                          </a:solidFill>
                          <a:latin typeface="Calibri"/>
                        </a:rPr>
                        <a:t>caught after onset (a miss)</a:t>
                      </a:r>
                    </a:p>
                  </a:txBody>
                  <a:tcPr marL="109728" marR="73152" marT="27432" marB="27432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42062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0" i="1">
                <a:solidFill>
                  <a:srgbClr val="2A2520"/>
                </a:solidFill>
                <a:latin typeface="Calibri"/>
              </a:rPr>
              <a:t>We separate a flag BEFORE the start (lead time — the win) from a flag AFTER (detection delay — a miss). Lumping them together is how monitoring papers quietly oversell themselves.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914400"/>
            <a:ext cx="1463040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2410C"/>
                </a:solidFill>
                <a:latin typeface="Consolas"/>
              </a:rPr>
              <a:t>§ 07 — WHAT TO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0" i="1">
                <a:solidFill>
                  <a:srgbClr val="F6F1E7"/>
                </a:solidFill>
                <a:latin typeface="Georgia"/>
              </a:rPr>
              <a:t>Module 2 in four sentences.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688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Validate before you model.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Match-ups with R²/RMSE/bias and a 1:1 line keep you honest.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Time CV and space CV differ.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Report the unseen-station score, not just the easy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97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976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Early-warning trains on quiet years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and must be judged out-of-sample.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120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C2410C"/>
                </a:solidFill>
                <a:latin typeface="Consola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21208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 i="0">
                <a:solidFill>
                  <a:srgbClr val="F6F1E7"/>
                </a:solidFill>
                <a:latin typeface="Calibri"/>
              </a:rPr>
              <a:t>Lead time and detection delay are opposites.  </a:t>
            </a:r>
            <a:r>
              <a:rPr sz="1500" b="0" i="0">
                <a:solidFill>
                  <a:srgbClr val="D4CDB9"/>
                </a:solidFill>
                <a:latin typeface="Calibri"/>
              </a:rPr>
              <a:t>Only a flag before onset is a real warning.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6B6157"/>
                </a:solidFill>
                <a:latin typeface="Consolas"/>
              </a:rPr>
              <a:t>MODULE 2 /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157"/>
                </a:solidFill>
                <a:latin typeface="Consolas"/>
              </a:rPr>
              <a:t>FIN ·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