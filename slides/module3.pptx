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3 is the capstone: students build the whole data layer themselves and run real downloads live. Frame it with the kitchen metaphor (grocery run → wash → chop → fridge → cook → restaurant). Everything runs in class with no account; the Copernicus account section then shows what a free login unlocks.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the whole map before details. Walk the six steps with the kitchen analogy — it makes an abstract pipeline memorable. Each step maps to a section of the notebook. Step 6 (productionise) is what turns a one-off analysis into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landscape. Rule of thumb: prototype today with the four no-login sources (GIBS, AWS COG, Open-Meteo air-quality and marine); graduate to account-based ones (CDSE, CMEMS, Earthdata) when the project needs a specific product or the full archive. Note Open-Meteo air quality is directly relevant to pollution.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'see the bytes arrive' moment — the heart of the user's request. All four cells run live with no credentials and degrade gracefully offline. The COG window read is the headline skill: pull 3 % of a scene over HTTP. Encourage students to change the date and their own coordinates and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account section — verified live against CDSE. Registration takes ~2 min; store the OAuth client id/secret as env vars and the same cells run live. The big unlock vs the AWS mirror: server-side processing. Process API returns a finished NDCI/true-colour/band product for any date; Statistical API returns a whole time series with NO image downloads — the cheap way to run a monitoring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 database, not CSVs: types, keys, indices, SQL. The hybrid: SQLite for queryable tables, Parquet for bulk arrays. The single most important engineering idea here is idempotency — the UNIQUE constraint plus INSERT OR REPLACE means a scheduled pipeline can re-process any date without creating duplicates. Tidy long format makes every later query a one-liner.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payoff: with everything in SQL, monitoring questions become short queries — monthly means, a robust Theil-Sen trend, threshold-exceedance counts, zone comparisons, and a satellite-vs-in-situ JOIN. The validation that it works: the exceedance counts spike in exactly 2019 and 2021, the documented crisis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empowerment: they now own the entire chain and ran it live. Scaling path: PostGIS for spatial/multi-user, DuckDB for querying Parquet at scale, cron/Airflow for scheduling. The whole thing re-points to any study area by changing the AOI.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914400"/>
            <a:ext cx="1463040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MODULE 03 · NOTEBOOK 03_BUILD_DATABASE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400" b="0" i="1">
                <a:solidFill>
                  <a:srgbClr val="F6F1E7"/>
                </a:solidFill>
                <a:latin typeface="Georgia"/>
              </a:rPr>
              <a:t>Build your own</a:t>
            </a:r>
          </a:p>
          <a:p>
            <a:pPr>
              <a:lnSpc>
                <a:spcPct val="102000"/>
              </a:lnSpc>
            </a:pPr>
            <a:r>
              <a:rPr sz="4400" b="0" i="1">
                <a:solidFill>
                  <a:srgbClr val="F6F1E7"/>
                </a:solidFill>
                <a:latin typeface="Georgia"/>
              </a:rPr>
              <a:t>data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947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D4CDB9"/>
                </a:solidFill>
                <a:latin typeface="Calibri"/>
              </a:rPr>
              <a:t>From zero to a working database: discover, download live, clean, store in SQLite + Parquet, and turn it into a pollution study.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FREE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301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3 %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01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OF A SCENE PULLED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478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+ PARQUET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655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655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IMAGES FOR A SERIES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3 / 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FROM ZERO TO PRO · 90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01 — THE SHAPE OF THE WHOLE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Six steps, one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3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PIPELINE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77440"/>
            <a:ext cx="1883664" cy="54864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432304"/>
            <a:ext cx="1883664" cy="173736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60320"/>
            <a:ext cx="1609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</a:rPr>
              <a:t>1 · GROCERY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926080"/>
            <a:ext cx="1609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400" b="1" i="0">
                <a:solidFill>
                  <a:srgbClr val="2A2520"/>
                </a:solidFill>
                <a:latin typeface="Georgia"/>
              </a:rPr>
              <a:t>Discover &amp; 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657600"/>
            <a:ext cx="1609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B6157"/>
                </a:solidFill>
                <a:latin typeface="Calibri"/>
              </a:rPr>
              <a:t>free archives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92608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C2410C"/>
                </a:solidFill>
                <a:latin typeface="Consola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9232" y="2377440"/>
            <a:ext cx="1883664" cy="54864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9232" y="2432304"/>
            <a:ext cx="1883664" cy="173736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1" y="2560320"/>
            <a:ext cx="1609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</a:rPr>
              <a:t>2 · WASH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1" y="2926080"/>
            <a:ext cx="1609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400" b="1" i="0">
                <a:solidFill>
                  <a:srgbClr val="2A2520"/>
                </a:solidFill>
                <a:latin typeface="Georgia"/>
              </a:rPr>
              <a:t>Clean &amp;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1" y="3657600"/>
            <a:ext cx="1609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B6157"/>
                </a:solidFill>
                <a:latin typeface="Calibri"/>
              </a:rPr>
              <a:t>drop clouds, land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2608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C2410C"/>
                </a:solidFill>
                <a:latin typeface="Consola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7216" y="2377440"/>
            <a:ext cx="1883664" cy="54864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7216" y="2432304"/>
            <a:ext cx="1883664" cy="173736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94376" y="2560320"/>
            <a:ext cx="1609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</a:rPr>
              <a:t>3 · CHOP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2926080"/>
            <a:ext cx="1609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400" b="1" i="0">
                <a:solidFill>
                  <a:srgbClr val="2A2520"/>
                </a:solidFill>
                <a:latin typeface="Georgia"/>
              </a:rPr>
              <a:t>Extract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657600"/>
            <a:ext cx="1609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B6157"/>
                </a:solidFill>
                <a:latin typeface="Calibri"/>
              </a:rPr>
              <a:t>tidy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92608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C2410C"/>
                </a:solidFill>
                <a:latin typeface="Consolas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377440"/>
            <a:ext cx="1883664" cy="54864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432304"/>
            <a:ext cx="1883664" cy="173736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560320"/>
            <a:ext cx="1609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</a:rPr>
              <a:t>4 · FRIDGE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926080"/>
            <a:ext cx="1609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400" b="1" i="0">
                <a:solidFill>
                  <a:srgbClr val="2A2520"/>
                </a:solidFill>
                <a:latin typeface="Georgia"/>
              </a:rPr>
              <a:t>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657600"/>
            <a:ext cx="1609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B6157"/>
                </a:solidFill>
                <a:latin typeface="Calibri"/>
              </a:rPr>
              <a:t>SQLite + Parquet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292608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C2410C"/>
                </a:solidFill>
                <a:latin typeface="Consolas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73184" y="2377440"/>
            <a:ext cx="1883664" cy="54864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73184" y="2432304"/>
            <a:ext cx="1883664" cy="173736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0344" y="2560320"/>
            <a:ext cx="1609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C2410C"/>
                </a:solidFill>
                <a:latin typeface="Consolas"/>
              </a:rPr>
              <a:t>5 · COOK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0344" y="2926080"/>
            <a:ext cx="1609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400" b="1" i="0">
                <a:solidFill>
                  <a:srgbClr val="2A2520"/>
                </a:solidFill>
                <a:latin typeface="Georgia"/>
              </a:rPr>
              <a:t>Analyse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0344" y="3657600"/>
            <a:ext cx="1609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B6157"/>
                </a:solidFill>
                <a:latin typeface="Calibri"/>
              </a:rPr>
              <a:t>pollution study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7548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0" i="1">
                <a:solidFill>
                  <a:srgbClr val="2A2520"/>
                </a:solidFill>
                <a:latin typeface="Calibri"/>
              </a:rPr>
              <a:t>The kitchen metaphor sticks: a project is a grocery run, washing, chopping, a fridge, and cooking — then Step 6 is running the restaurant every day (an incremental, scheduled job).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02 — WHERE THE FREE DATA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Know the archive, know the login.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3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DATA LANDSCAPE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14884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13716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Source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What you get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Login?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Best for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NASA GIBS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Daily true-colour, 2000→now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browse any date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Earth Search → AWS COG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Sentinel-2 bands, 10 m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analysis pixels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Open-Meteo Air-Quality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PM2.5, PM10, ozone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pollution context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Open-Meteo Marine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Sea-surface temperature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in-water conditions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Copernicus CDSE / SH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On-demand C2RCC, any product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free acct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real-time processing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CMEMS · Earthdata · EMODnet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Reanalysis, ocean colour, bathy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free/OGC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A2520"/>
                          </a:solidFill>
                          <a:latin typeface="Calibri"/>
                        </a:rPr>
                        <a:t>archives &amp; context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03 — DOWNLOADS YOU RUN IN 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Real data, on screen, no login.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3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LIVE, NO CREDENTIALS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9456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19456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GIBS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One URL → a true-colour PNG of the lagoon for any date. Change the date, re-run, browse.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219456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1" y="219456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5915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SENTINEL-2 COG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6148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Search → open the COG header → read only the AOI window: ~8 MB instead of ~240 MB (3 % of the scene).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06908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" y="406908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3367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AIR-QUALITY SERIES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3600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GET → JSON → DataFrame: hourly PM2.5 / PM10 / ozone at the lagoon.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406908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1" y="406908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3367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MARINE SST SERIES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3600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Same pattern, live sea-surface temperature — a free complement to Sentinel-3.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04 — WHAT A FREE COPERNICUS ACCOUNT UNLOCKS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Server-side processing,</a:t>
            </a:r>
          </a:p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not just raw bands.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CDSE PROCESS + STATISTICAL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5486400" cy="3108960"/>
          </a:xfrm>
          <a:prstGeom prst="rect">
            <a:avLst/>
          </a:prstGeom>
          <a:solidFill>
            <a:srgbClr val="0E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514600"/>
            <a:ext cx="50749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6B6157"/>
                </a:solidFill>
                <a:latin typeface="Consolas"/>
              </a:rPr>
              <a:t># Send a recipe, get the product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EVALSCRIPT = """//VERSION=3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function setup(){return {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input:["B04","B05","dataMask"],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output:{bands:1}};}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function evaluatePixel(s){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return [(s.B05-s.B04)/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        (s.B05+s.B04)];}"""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6B6157"/>
                </a:solidFill>
                <a:latin typeface="Consolas"/>
              </a:rPr>
              <a:t># Process API  -&gt; NDCI map, any date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6B6157"/>
                </a:solidFill>
                <a:latin typeface="Consolas"/>
              </a:rPr>
              <a:t># Statistical API -&gt; series, 0 downloads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77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A2520"/>
                </a:solidFill>
                <a:latin typeface="Calibri"/>
              </a:rPr>
              <a:t>The three unlocks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4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A2520"/>
                </a:solidFill>
                <a:latin typeface="Calibri"/>
              </a:rPr>
              <a:t>Process API </a:t>
            </a:r>
            <a:r>
              <a:rPr sz="1250" b="0" i="0">
                <a:solidFill>
                  <a:srgbClr val="2A2520"/>
                </a:solidFill>
                <a:latin typeface="Calibri"/>
              </a:rPr>
              <a:t>— send an evalscript, get the finished product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A2520"/>
                </a:solidFill>
                <a:latin typeface="Calibri"/>
              </a:rPr>
              <a:t>Statistical API </a:t>
            </a:r>
            <a:r>
              <a:rPr sz="1250" b="0" i="0">
                <a:solidFill>
                  <a:srgbClr val="2A2520"/>
                </a:solidFill>
                <a:latin typeface="Calibri"/>
              </a:rPr>
              <a:t>— a full AOI time series, zero imagery downloaded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A2520"/>
                </a:solidFill>
                <a:latin typeface="Calibri"/>
              </a:rPr>
              <a:t>Raw bands </a:t>
            </a:r>
            <a:r>
              <a:rPr sz="1250" b="0" i="0">
                <a:solidFill>
                  <a:srgbClr val="2A2520"/>
                </a:solidFill>
                <a:latin typeface="Calibri"/>
              </a:rPr>
              <a:t>— read the chlorophyll signature off the spectrum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05 — STORE IT THE RIGHT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SQLite for queries,</a:t>
            </a:r>
          </a:p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Parquet for bulk.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SCHEMA · IDEMPOTENT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0" i="0">
                <a:solidFill>
                  <a:srgbClr val="2A2520"/>
                </a:solidFill>
                <a:latin typeface="Calibri"/>
              </a:rPr>
              <a:t>CSVs become a swamp. A database gives types, primary keys (no duplicates), indices and SQL. We use a pragmatic hybrid: SQLite for the catalogue + tidy observations + stations; Parquet for the millions of per-pixel values. Idempotent writes (INSERT OR REPLACE on a UNIQUE key) mean re-running never duplicates — essential for a scheduled job.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331720"/>
            <a:ext cx="5029200" cy="2743200"/>
          </a:xfrm>
          <a:prstGeom prst="rect">
            <a:avLst/>
          </a:prstGeom>
          <a:solidFill>
            <a:srgbClr val="0E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514600"/>
            <a:ext cx="461772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CREATE TABLE observations (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obs_id   INTEGER PRIMARY KEY,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date     TEXT, source TEXT,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variable TEXT, zone   TEXT,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value    REAL, units  TEXT,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UNIQUE(date,source,variable,zone)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);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-- tidy, long format = easy 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06 — 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A pollution study, straight from SQL.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TREND · EXCEEDANCE ·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A2520"/>
                </a:solidFill>
                <a:latin typeface="Calibri"/>
              </a:rPr>
              <a:t>One query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5852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50" b="0" i="0">
                <a:solidFill>
                  <a:srgbClr val="2A2520"/>
                </a:solidFill>
                <a:latin typeface="Calibri"/>
              </a:rPr>
              <a:t>Monthly-mean chl-a series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50" b="1" i="0">
                <a:solidFill>
                  <a:srgbClr val="2A2520"/>
                </a:solidFill>
                <a:latin typeface="Calibri"/>
              </a:rPr>
              <a:t>Robust long-term trend </a:t>
            </a:r>
            <a:r>
              <a:rPr sz="1350" b="0" i="0">
                <a:solidFill>
                  <a:srgbClr val="2A2520"/>
                </a:solidFill>
                <a:latin typeface="Calibri"/>
              </a:rPr>
              <a:t>(Theil-Sen)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50" b="1" i="0">
                <a:solidFill>
                  <a:srgbClr val="2A2520"/>
                </a:solidFill>
                <a:latin typeface="Calibri"/>
              </a:rPr>
              <a:t>'Poor status' exceedance days </a:t>
            </a:r>
            <a:r>
              <a:rPr sz="1350" b="0" i="0">
                <a:solidFill>
                  <a:srgbClr val="2A2520"/>
                </a:solidFill>
                <a:latin typeface="Calibri"/>
              </a:rPr>
              <a:t>per year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50" b="0" i="0">
                <a:solidFill>
                  <a:srgbClr val="2A2520"/>
                </a:solidFill>
                <a:latin typeface="Calibri"/>
              </a:rPr>
              <a:t>North / Centre / South zone comparison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50" b="1" i="0">
                <a:solidFill>
                  <a:srgbClr val="2A2520"/>
                </a:solidFill>
                <a:latin typeface="Calibri"/>
              </a:rPr>
              <a:t>Satellite ↔ in-situ JOIN </a:t>
            </a:r>
            <a:r>
              <a:rPr sz="1350" b="0" i="0">
                <a:solidFill>
                  <a:srgbClr val="2A2520"/>
                </a:solidFill>
                <a:latin typeface="Calibri"/>
              </a:rPr>
              <a:t>match-up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46888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0" i="1">
                <a:solidFill>
                  <a:srgbClr val="C2410C"/>
                </a:solidFill>
                <a:latin typeface="Georgia"/>
              </a:rPr>
              <a:t>20 %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1089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B6157"/>
                </a:solidFill>
                <a:latin typeface="Consolas"/>
              </a:rPr>
              <a:t>2021 OBS ABOVE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749039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0" i="1">
                <a:solidFill>
                  <a:srgbClr val="C2410C"/>
                </a:solidFill>
                <a:latin typeface="Georgia"/>
              </a:rPr>
              <a:t>8.2 %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389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B6157"/>
                </a:solidFill>
                <a:latin typeface="Consolas"/>
              </a:rPr>
              <a:t>2019 OBS ABOVE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84632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1">
                <a:solidFill>
                  <a:srgbClr val="115E59"/>
                </a:solidFill>
                <a:latin typeface="Calibri"/>
              </a:rPr>
              <a:t>The database detects the documented crises by itself — proof the pipeline works end to 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914400"/>
            <a:ext cx="1463040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07 — SCALE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0" i="1">
                <a:solidFill>
                  <a:srgbClr val="F6F1E7"/>
                </a:solidFill>
                <a:latin typeface="Georgia"/>
              </a:rPr>
              <a:t>Make it grow on its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688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Discover → subset → array/table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is the same pattern for every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832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Move as few pixels as possible.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COG windows + server-side Statistical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97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2976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Clean before you store; store tidy.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Idempotent SQLite + Parquet scales to a scheduled job.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2120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2120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The SQL transfers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to PostGIS / DuckDB. Swap the AOI and the database builds itself.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3 /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FIN · MODULE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